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9f3a7f1ce954df9" /><Relationship Type="http://schemas.openxmlformats.org/package/2006/relationships/metadata/core-properties" Target="/docProps/core.xml" Id="R63b15be0950f47c1" /><Relationship Type="http://schemas.openxmlformats.org/officeDocument/2006/relationships/extended-properties" Target="/docProps/app.xml" Id="Rc5857d5229344daf" /><Relationship Type="http://schemas.openxmlformats.org/officeDocument/2006/relationships/custom-properties" Target="/docProps/custom.xml" Id="Rb5be2be08c4940e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2c4ac2a42f94693"/>
  </p:notesMasterIdLst>
  <p:sldIdLst>
    <p:sldId id="256" r:id="R7e076b8eb9624664"/>
    <p:sldId id="257" r:id="Rb9225760aeb84119"/>
    <p:sldId id="258" r:id="R5a5efd22fef44204"/>
    <p:sldId id="259" r:id="R258c9e41ca6d4c20"/>
    <p:sldId id="260" r:id="R41dae8b43ba74bd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e076b8eb9624664" /><Relationship Type="http://schemas.openxmlformats.org/officeDocument/2006/relationships/notesMaster" Target="/ppt/notesMasters/notesMaster1.xml" Id="R72c4ac2a42f94693" /><Relationship Type="http://schemas.openxmlformats.org/officeDocument/2006/relationships/slide" Target="/ppt/slides/slide2.xml" Id="Rb9225760aeb84119" /><Relationship Type="http://schemas.openxmlformats.org/officeDocument/2006/relationships/slide" Target="/ppt/slides/slide3.xml" Id="R5a5efd22fef44204" /><Relationship Type="http://schemas.openxmlformats.org/officeDocument/2006/relationships/slide" Target="/ppt/slides/slide4.xml" Id="R258c9e41ca6d4c20" /><Relationship Type="http://schemas.openxmlformats.org/officeDocument/2006/relationships/slide" Target="/ppt/slides/slide5.xml" Id="R41dae8b43ba7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f7621f591e431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3d9a1330684302" /><Relationship Type="http://schemas.openxmlformats.org/officeDocument/2006/relationships/slide" Target="/ppt/slides/slide1.xml" Id="Rf7bc8547cf5540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40dc0c70414740" /><Relationship Type="http://schemas.openxmlformats.org/officeDocument/2006/relationships/slide" Target="/ppt/slides/slide2.xml" Id="R0391d61a037c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98f6b0b7ad042ca" /><Relationship Type="http://schemas.openxmlformats.org/officeDocument/2006/relationships/slide" Target="/ppt/slides/slide3.xml" Id="Rc73fe129a3b044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54774d6b72415e" /><Relationship Type="http://schemas.openxmlformats.org/officeDocument/2006/relationships/slide" Target="/ppt/slides/slide4.xml" Id="R8a9597cf78e2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21b99ce8364dc4" /><Relationship Type="http://schemas.openxmlformats.org/officeDocument/2006/relationships/slide" Target="/ppt/slides/slide5.xml" Id="R00eedf88a428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用一句话交代提报对象、目标与本次希望确认的决定。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章节过渡，说明接下来要回答的问题。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按页面结论组织要点，不逐字朗读。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章节过渡，说明接下来要回答的问题。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先讲趋势或差异，再点出对业务决策的影响。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13437fc4248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3088e5ef847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8dcf8d0d44e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c9a8b1d6b4f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be5cc6c754d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f79db589e2342b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c6f0d504c4598" /><Relationship Type="http://schemas.openxmlformats.org/officeDocument/2006/relationships/notesSlide" Target="/ppt/notesSlides/notesSlide1.xml" Id="Rcb377b16dbae4d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8b2a28207436a" /><Relationship Type="http://schemas.openxmlformats.org/officeDocument/2006/relationships/notesSlide" Target="/ppt/notesSlides/notesSlide2.xml" Id="R9aa23f48757e48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1d21862049d0" /><Relationship Type="http://schemas.openxmlformats.org/officeDocument/2006/relationships/notesSlide" Target="/ppt/notesSlides/notesSlide3.xml" Id="R72270a9ecc0d41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080cc382a4f83" /><Relationship Type="http://schemas.openxmlformats.org/officeDocument/2006/relationships/notesSlide" Target="/ppt/notesSlides/notesSlide4.xml" Id="R9bfac2bae831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a89e302f4ab6" /><Relationship Type="http://schemas.openxmlformats.org/officeDocument/2006/relationships/chart" Target="/ppt/slides/charts/chart1.xml" Id="R308dc67335ce4d56" /><Relationship Type="http://schemas.openxmlformats.org/officeDocument/2006/relationships/notesSlide" Target="/ppt/notesSlides/notesSlide5.xml" Id="R0c9426ae9597476c" /></Relationships>
</file>

<file path=ppt/slides/charts/chart1.xml><?xml version="1.0" encoding="utf-8"?>
<c:chartSpace xmlns:c="http://schemas.openxmlformats.org/drawingml/2006/chart">
  <c:date1904 val="0"/>
  <c:chart>
    <c:plotArea>
      <c:layout/>
      <c:lineChart>
        <c:grouping val="standard"/>
        <c:varyColors val="0"/>
        <c:ser>
          <c:idx val="0"/>
          <c:order val="0"/>
          <c:tx>
            <c:v>到访</c:v>
          </c:tx>
          <c:spPr>
            <a:ln xmlns:a="http://schemas.openxmlformats.org/drawingml/2006/main" w="31750">
              <a:solidFill>
                <a:srgbClr val="176B87"/>
              </a:solidFill>
            </a:ln>
          </c:spPr>
          <c:marker>
            <c:symbol val="circle"/>
            <c:size val="6"/>
          </c:marker>
          <c:cat>
            <c:strLit>
              <c:ptCount val="6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</c:strLit>
          </c:cat>
          <c:val>
            <c:numLit>
              <c:formatCode>General</c:formatCode>
              <c:ptCount val="6"/>
              <c:pt idx="0">
                <c:v>62</c:v>
              </c:pt>
              <c:pt idx="1">
                <c:v>75</c:v>
              </c:pt>
              <c:pt idx="2">
                <c:v>73</c:v>
              </c:pt>
              <c:pt idx="3">
                <c:v>96</c:v>
              </c:pt>
              <c:pt idx="4">
                <c:v>121</c:v>
              </c:pt>
              <c:pt idx="5">
                <c:v>148</c:v>
              </c:pt>
            </c:numLit>
          </c:val>
        </c:ser>
        <c:ser>
          <c:idx val="1"/>
          <c:order val="1"/>
          <c:tx>
            <c:v>认购</c:v>
          </c:tx>
          <c:spPr>
            <a:ln xmlns:a="http://schemas.openxmlformats.org/drawingml/2006/main" w="31750">
              <a:solidFill>
                <a:srgbClr val="D65A31"/>
              </a:solidFill>
            </a:ln>
          </c:spPr>
          <c:marker>
            <c:symbol val="circle"/>
            <c:size val="6"/>
          </c:marker>
          <c:cat>
            <c:strLit>
              <c:ptCount val="6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</c:strLit>
          </c:cat>
          <c:val>
            <c:numLit>
              <c:formatCode>General</c:formatCode>
              <c:ptCount val="6"/>
              <c:pt idx="0">
                <c:v>18</c:v>
              </c:pt>
              <c:pt idx="1">
                <c:v>22</c:v>
              </c:pt>
              <c:pt idx="2">
                <c:v>20</c:v>
              </c:pt>
              <c:pt idx="3">
                <c:v>31</c:v>
              </c:pt>
              <c:pt idx="4">
                <c:v>44</c:v>
              </c:pt>
              <c:pt idx="5">
                <c:v>52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242424"/>
                  </a:solidFill>
                  <a:latin typeface="Microsoft YaHei"/>
                  <a:ea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6D6D6D"/>
                </a:solidFill>
                <a:latin typeface="Microsoft YaHei"/>
                <a:ea typeface="Microsoft YaHei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>
          <c:spPr>
            <a:ln xmlns:a="http://schemas.openxmlformats.org/drawingml/2006/main" w="6350">
              <a:solidFill>
                <a:srgbClr val="E5E7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6D6D6D"/>
                </a:solidFill>
                <a:latin typeface="Microsoft YaHei"/>
                <a:ea typeface="Microsoft YaHei"/>
              </a:defRPr>
            </a:pPr>
          </a:p>
        </c:txPr>
        <c:crossAx val="1"/>
        <c:crosses val="autoZero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/>
        <a:lstStyle xmlns:a="http://schemas.openxmlformats.org/drawingml/2006/main"/>
        <a:p xmlns:a="http://schemas.openxmlformats.org/drawingml/2006/main">
          <a:pPr>
            <a:defRPr sz="1100">
              <a:solidFill>
                <a:srgbClr val="6D6D6D"/>
              </a:solidFill>
              <a:latin typeface="Microsoft YaHei"/>
              <a:ea typeface="Microsoft YaHei"/>
            </a:defRPr>
          </a:pPr>
        </a:p>
      </c:txPr>
    </c:legend>
    <c:plotVisOnly val="1"/>
    <c:dispBlanksAs val="gap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468000" y="792000"/>
            <a:ext cx="648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38000" y="810000"/>
            <a:ext cx="72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00" b="1">
                <a:solidFill>
                  <a:srgbClr val="176B87"/>
                </a:solidFill>
                <a:latin typeface="Microsoft YaHei"/>
                <a:ea typeface="Microsoft YaHei"/>
              </a:rPr>
              <a:t>STRATEGIC PRESENTATION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38000" y="1206000"/>
            <a:ext cx="10260000" cy="18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</a:pPr>
            <a:r>
              <a:rPr lang="en-US" sz="4200" b="1">
                <a:solidFill>
                  <a:srgbClr val="242424"/>
                </a:solidFill>
                <a:latin typeface="Microsoft YaHei"/>
                <a:ea typeface="Microsoft YaHei"/>
              </a:rPr>
              <a:t>深圳项目月度营销复盘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738000" y="3312000"/>
            <a:ext cx="91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2000" b="0">
                <a:solidFill>
                  <a:srgbClr val="6D6D6D"/>
                </a:solidFill>
                <a:latin typeface="Microsoft YaHei"/>
                <a:ea typeface="Microsoft YaHei"/>
              </a:rPr>
              <a:t>从内容流量到到访成交的完整判断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738000" y="5544000"/>
            <a:ext cx="1008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00" b="0">
                <a:solidFill>
                  <a:srgbClr val="6D6D6D"/>
                </a:solidFill>
                <a:latin typeface="Microsoft YaHei"/>
                <a:ea typeface="Microsoft YaHei"/>
              </a:rPr>
              <a:t>示例团队  ·    ·  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468000" y="720000"/>
            <a:ext cx="28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5200" b="1">
                <a:solidFill>
                  <a:srgbClr val="D65A3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468000" y="1800000"/>
            <a:ext cx="102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3800" b="1">
                <a:solidFill>
                  <a:srgbClr val="FBFAF7"/>
                </a:solidFill>
                <a:latin typeface="Microsoft YaHei"/>
                <a:ea typeface="Microsoft YaHei"/>
              </a:rPr>
              <a:t>01 本月核心判断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468000" y="3240000"/>
            <a:ext cx="86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endParaRPr lang="en-US" sz="2000" b="0">
              <a:solidFill>
                <a:srgbClr val="6D6D6D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/>
      <p:sp>
        <p:nvSpPr>
          <p:cNvPr id="100008" name="TextBox 1"/>
          <p:cNvSpPr txBox="1"/>
          <p:nvPr/>
        </p:nvSpPr>
        <p:spPr>
          <a:xfrm xmlns:a="http://schemas.openxmlformats.org/drawingml/2006/main">
            <a:off x="468000" y="172800"/>
            <a:ext cx="7200000" cy="15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 b="1">
                <a:solidFill>
                  <a:srgbClr val="176B87"/>
                </a:solidFill>
                <a:latin typeface="Microsoft YaHei"/>
                <a:ea typeface="Microsoft YaHei"/>
              </a:rPr>
              <a:t>01 本月核心判断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10872000" y="172800"/>
            <a:ext cx="846000" cy="15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</a:pPr>
            <a:r>
              <a:rPr lang="en-US" sz="800" b="0">
                <a:solidFill>
                  <a:srgbClr val="6D6D6D"/>
                </a:solidFill>
                <a:latin typeface="Microsoft YaHei"/>
                <a:ea typeface="Microsoft YaHei"/>
              </a:rPr>
              <a:t>03 / 05</a:t>
            </a:r>
          </a:p>
        </p:txBody>
      </p:sp>
      <p:sp>
        <p:nvSpPr>
          <p:cNvPr id="100010" name="TextBox 3"/>
          <p:cNvSpPr txBox="1"/>
          <p:nvPr/>
        </p:nvSpPr>
        <p:spPr>
          <a:xfrm xmlns:a="http://schemas.openxmlformats.org/drawingml/2006/main">
            <a:off x="468000" y="558000"/>
            <a:ext cx="10980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3600" b="1">
                <a:solidFill>
                  <a:srgbClr val="242424"/>
                </a:solidFill>
                <a:latin typeface="Microsoft YaHei"/>
                <a:ea typeface="Microsoft YaHei"/>
              </a:rPr>
              <a:t>成交增长来自有效到访提升</a:t>
            </a:r>
          </a:p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468000" y="1630800"/>
            <a:ext cx="1008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5"/>
          <p:cNvSpPr txBox="1"/>
          <p:nvPr/>
        </p:nvSpPr>
        <p:spPr>
          <a:xfrm xmlns:a="http://schemas.openxmlformats.org/drawingml/2006/main">
            <a:off x="720000" y="1566000"/>
            <a:ext cx="10620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2000" b="0">
                <a:solidFill>
                  <a:srgbClr val="242424"/>
                </a:solidFill>
                <a:latin typeface="Microsoft YaHei"/>
                <a:ea typeface="Microsoft YaHei"/>
              </a:rPr>
              <a:t>本月到访量连续三周增长，客户结构同步改善。</a:t>
            </a:r>
          </a:p>
        </p:txBody>
      </p:sp>
      <p:sp>
        <p:nvSpPr>
          <p:cNvPr id="100013" name="TextBox 6"/>
          <p:cNvSpPr/>
          <p:nvPr/>
        </p:nvSpPr>
        <p:spPr>
          <a:xfrm xmlns:a="http://schemas.openxmlformats.org/drawingml/2006/main">
            <a:off x="468000" y="2368800"/>
            <a:ext cx="1008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TextBox 7"/>
          <p:cNvSpPr txBox="1"/>
          <p:nvPr/>
        </p:nvSpPr>
        <p:spPr>
          <a:xfrm xmlns:a="http://schemas.openxmlformats.org/drawingml/2006/main">
            <a:off x="720000" y="2304000"/>
            <a:ext cx="10620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2000" b="0">
                <a:solidFill>
                  <a:srgbClr val="242424"/>
                </a:solidFill>
                <a:latin typeface="Microsoft YaHei"/>
                <a:ea typeface="Microsoft YaHei"/>
              </a:rPr>
              <a:t>直播贡献了新增客资，但到访转化仍需要重点复盘。</a:t>
            </a:r>
          </a:p>
        </p:txBody>
      </p:sp>
      <p:sp>
        <p:nvSpPr>
          <p:cNvPr id="100015" name="TextBox 8"/>
          <p:cNvSpPr/>
          <p:nvPr/>
        </p:nvSpPr>
        <p:spPr>
          <a:xfrm xmlns:a="http://schemas.openxmlformats.org/drawingml/2006/main">
            <a:off x="468000" y="3106800"/>
            <a:ext cx="100800" cy="1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TextBox 9"/>
          <p:cNvSpPr txBox="1"/>
          <p:nvPr/>
        </p:nvSpPr>
        <p:spPr>
          <a:xfrm xmlns:a="http://schemas.openxmlformats.org/drawingml/2006/main">
            <a:off x="720000" y="3042000"/>
            <a:ext cx="10620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2000" b="0">
                <a:solidFill>
                  <a:srgbClr val="242424"/>
                </a:solidFill>
                <a:latin typeface="Microsoft YaHei"/>
                <a:ea typeface="Microsoft YaHei"/>
              </a:rPr>
              <a:t>下一阶段应把留资到到访的流失环节拆开管理。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468000" y="720000"/>
            <a:ext cx="28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5200" b="1">
                <a:solidFill>
                  <a:srgbClr val="D65A3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468000" y="1800000"/>
            <a:ext cx="102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3800" b="1">
                <a:solidFill>
                  <a:srgbClr val="FBFAF7"/>
                </a:solidFill>
                <a:latin typeface="Microsoft YaHei"/>
                <a:ea typeface="Microsoft YaHei"/>
              </a:rPr>
              <a:t>02 数据表现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468000" y="3240000"/>
            <a:ext cx="86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endParaRPr lang="en-US" sz="2000" b="0">
              <a:solidFill>
                <a:srgbClr val="6D6D6D"/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468000" y="172800"/>
            <a:ext cx="7200000" cy="15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800" b="1">
                <a:solidFill>
                  <a:srgbClr val="176B87"/>
                </a:solidFill>
                <a:latin typeface="Microsoft YaHei"/>
                <a:ea typeface="Microsoft YaHei"/>
              </a:rPr>
              <a:t>02 数据表现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10872000" y="172800"/>
            <a:ext cx="846000" cy="15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</a:pPr>
            <a:r>
              <a:rPr lang="en-US" sz="800" b="0">
                <a:solidFill>
                  <a:srgbClr val="6D6D6D"/>
                </a:solidFill>
                <a:latin typeface="Microsoft YaHei"/>
                <a:ea typeface="Microsoft YaHei"/>
              </a:rPr>
              <a:t>05 / 05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468000" y="558000"/>
            <a:ext cx="10980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3600" b="1">
                <a:solidFill>
                  <a:srgbClr val="242424"/>
                </a:solidFill>
                <a:latin typeface="Microsoft YaHei"/>
                <a:ea typeface="Microsoft YaHei"/>
              </a:rPr>
              <a:t>4 月以后到访与认购同步加速</a:t>
            </a:r>
          </a:p>
        </p:txBody>
      </p:sp>
      <p:graphicFrame>
        <p:nvGraphicFramePr>
          <p:cNvPr id="100023" name="Chart 1"/>
          <p:cNvGraphicFramePr/>
          <p:nvPr/>
        </p:nvGraphicFramePr>
        <p:xfrm>
          <a:off xmlns:a="http://schemas.openxmlformats.org/drawingml/2006/main" x="468000" y="1458000"/>
          <a:ext xmlns:a="http://schemas.openxmlformats.org/drawingml/2006/main" cx="8172000" cy="446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8dc67335ce4d56"/>
          </a:graphicData>
        </a:graphic>
      </p:graphicFrame>
      <p:sp>
        <p:nvSpPr>
          <p:cNvPr id="100024" name="TextBox 4"/>
          <p:cNvSpPr/>
          <p:nvPr/>
        </p:nvSpPr>
        <p:spPr>
          <a:xfrm xmlns:a="http://schemas.openxmlformats.org/drawingml/2006/main">
            <a:off x="9000000" y="1458000"/>
            <a:ext cx="2718000" cy="4464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DAD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5"/>
          <p:cNvSpPr txBox="1"/>
          <p:nvPr/>
        </p:nvSpPr>
        <p:spPr>
          <a:xfrm xmlns:a="http://schemas.openxmlformats.org/drawingml/2006/main">
            <a:off x="9198000" y="1692000"/>
            <a:ext cx="2304000" cy="1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900" b="1">
                <a:solidFill>
                  <a:srgbClr val="176B87"/>
                </a:solidFill>
                <a:latin typeface="Microsoft YaHei"/>
                <a:ea typeface="Microsoft YaHei"/>
              </a:rPr>
              <a:t>CHART INSIGHT</a:t>
            </a:r>
          </a:p>
        </p:txBody>
      </p:sp>
      <p:sp>
        <p:nvSpPr>
          <p:cNvPr id="100026" name="TextBox 6"/>
          <p:cNvSpPr txBox="1"/>
          <p:nvPr/>
        </p:nvSpPr>
        <p:spPr>
          <a:xfrm xmlns:a="http://schemas.openxmlformats.org/drawingml/2006/main">
            <a:off x="9198000" y="2052000"/>
            <a:ext cx="2304000" cy="18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2200" b="1">
                <a:solidFill>
                  <a:srgbClr val="242424"/>
                </a:solidFill>
                <a:latin typeface="Microsoft YaHei"/>
                <a:ea typeface="Microsoft YaHei"/>
              </a:rPr>
              <a:t>4 月以后，到访与认购同步加速。</a:t>
            </a:r>
          </a:p>
        </p:txBody>
      </p:sp>
      <p:sp>
        <p:nvSpPr>
          <p:cNvPr id="100027" name="TextBox 7"/>
          <p:cNvSpPr txBox="1"/>
          <p:nvPr/>
        </p:nvSpPr>
        <p:spPr>
          <a:xfrm xmlns:a="http://schemas.openxmlformats.org/drawingml/2006/main">
            <a:off x="9198000" y="5184000"/>
            <a:ext cx="230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000" b="0">
                <a:solidFill>
                  <a:srgbClr val="6D6D6D"/>
                </a:solidFill>
                <a:latin typeface="Microsoft YaHei"/>
                <a:ea typeface="Microsoft YaHei"/>
              </a:rPr>
              <a:t>示例销售日报。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2026-08-11T19:30:42Z</dcterms:created>
  <cp:lastModifiedBy>OfficeCLI</cp:lastModifiedBy>
  <dcterms:modified xsi:type="dcterms:W3CDTF">2026-08-11T19:30:42Z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2026-08-11T19:30:43Z</vt:lpwstr>
  </op:property>
</op:Properties>
</file>